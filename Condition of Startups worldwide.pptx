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70D20-CED9-7A42-3CA8-BC0D528B69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DD788C4-573D-3D33-C75A-98A7BE3305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176AB3-8053-1DDD-C9CA-2E3F6186A225}"/>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5" name="Footer Placeholder 4">
            <a:extLst>
              <a:ext uri="{FF2B5EF4-FFF2-40B4-BE49-F238E27FC236}">
                <a16:creationId xmlns:a16="http://schemas.microsoft.com/office/drawing/2014/main" id="{3C65AF75-2906-6EFE-19D5-E1E326E715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44BC00-A51F-3E71-31B9-5C6B4E64B74A}"/>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4226074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66387-A4D6-E03E-FA99-48177ABBF0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8F6F19-86D6-FA1C-1F49-6D69C7F2FA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013FE3-F59B-9D12-8873-342618214FAA}"/>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5" name="Footer Placeholder 4">
            <a:extLst>
              <a:ext uri="{FF2B5EF4-FFF2-40B4-BE49-F238E27FC236}">
                <a16:creationId xmlns:a16="http://schemas.microsoft.com/office/drawing/2014/main" id="{1770A43F-6B5B-3042-42CE-AB30C7892B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009EB6-AC7D-F5B7-799C-B276EC56660E}"/>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4211496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AD54A-0E8B-62D1-1525-1F0BACF054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B774B5C-3204-A5B1-7A87-6CB988CE12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97A393-91E2-012C-03AC-8E52D3C00C0F}"/>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5" name="Footer Placeholder 4">
            <a:extLst>
              <a:ext uri="{FF2B5EF4-FFF2-40B4-BE49-F238E27FC236}">
                <a16:creationId xmlns:a16="http://schemas.microsoft.com/office/drawing/2014/main" id="{E0255BB4-32EC-7E3B-F4CB-470B97CED0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7EFD08-E676-45BE-12C6-6C53B44ADF82}"/>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3706569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B45E7-EDFE-0EA9-F035-C81EE67E2A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EDEBF6-212A-7381-B214-3AE54C10F2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D1D947-B4B0-7A93-144C-63429A7B44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AB9E19-6856-114F-9D0D-CF37F882A225}"/>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6" name="Footer Placeholder 5">
            <a:extLst>
              <a:ext uri="{FF2B5EF4-FFF2-40B4-BE49-F238E27FC236}">
                <a16:creationId xmlns:a16="http://schemas.microsoft.com/office/drawing/2014/main" id="{12F32557-6D9A-C432-B14E-2ACEBF4B8C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8D870C-11C7-AE1B-30F8-DC11C0E2F4BF}"/>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1646079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6CF72-53E6-47E8-3408-C90FA1365DE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97BF8B-0597-1E64-E9AE-27987DE12A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01C19B-0BB8-5F32-580F-F1B0B6D533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A84042-D7F9-3CB5-FB9A-BEFB83D7FF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1F492A-368B-B41A-8DD8-8F3FF34A87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065805-9412-8311-ADEE-6732116D098F}"/>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8" name="Footer Placeholder 7">
            <a:extLst>
              <a:ext uri="{FF2B5EF4-FFF2-40B4-BE49-F238E27FC236}">
                <a16:creationId xmlns:a16="http://schemas.microsoft.com/office/drawing/2014/main" id="{2FF592E8-6C14-1A0B-DF73-861E26FE66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6A3A4EF-D311-263F-84CD-7804397CB0CB}"/>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3922926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0918-D820-748F-BA84-55AC3CFB4E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691E818-1A8C-2D49-CBF0-3348C04A2646}"/>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4" name="Footer Placeholder 3">
            <a:extLst>
              <a:ext uri="{FF2B5EF4-FFF2-40B4-BE49-F238E27FC236}">
                <a16:creationId xmlns:a16="http://schemas.microsoft.com/office/drawing/2014/main" id="{CFF2415A-CDE6-094A-FC89-078C6CFB73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82BF62-316B-A21D-E897-E5F1950CC96A}"/>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1872684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DAE0C6-D682-1A2A-3498-52FFF888566E}"/>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3" name="Footer Placeholder 2">
            <a:extLst>
              <a:ext uri="{FF2B5EF4-FFF2-40B4-BE49-F238E27FC236}">
                <a16:creationId xmlns:a16="http://schemas.microsoft.com/office/drawing/2014/main" id="{8A83C7ED-C4DB-DA01-890D-6AB1C7426C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DDC1E5-789C-1457-5873-711684520810}"/>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298490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E6E28-D6C6-3CC3-D88B-DA32950EBE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847A6C-2806-D774-3B1E-41C3D55E65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0D630B-FFBE-3A8D-82BC-4FE02FD8E9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64E9D1-938B-9F0B-F3DB-6A3B0086CC0B}"/>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6" name="Footer Placeholder 5">
            <a:extLst>
              <a:ext uri="{FF2B5EF4-FFF2-40B4-BE49-F238E27FC236}">
                <a16:creationId xmlns:a16="http://schemas.microsoft.com/office/drawing/2014/main" id="{AE1C7055-CDC1-3563-AFA0-69D44843D4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C3FF92-AF68-0FD4-99EC-4FA0F9B3E738}"/>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253494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65111-9271-4624-E592-FB2A2ADEA2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986B6B-E729-C15C-B039-F249597C1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28A3BB-2E48-7A6C-A713-FA3D30A21F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67B468-8F38-5BA5-EEAD-8DA78854AA85}"/>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6" name="Footer Placeholder 5">
            <a:extLst>
              <a:ext uri="{FF2B5EF4-FFF2-40B4-BE49-F238E27FC236}">
                <a16:creationId xmlns:a16="http://schemas.microsoft.com/office/drawing/2014/main" id="{DEDCDE5A-9BC2-5AF7-DB10-1B248A7F7A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78BAE7-4981-A169-811D-9F4204BB7180}"/>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2774619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1061C-D7D9-4605-CC83-8F8A75BAED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9A226D-6EDE-5A36-CAA2-4946A86593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679C6C-A0D7-7F32-0DAB-8C726B1EC242}"/>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5" name="Footer Placeholder 4">
            <a:extLst>
              <a:ext uri="{FF2B5EF4-FFF2-40B4-BE49-F238E27FC236}">
                <a16:creationId xmlns:a16="http://schemas.microsoft.com/office/drawing/2014/main" id="{747235F4-4080-F87B-24B9-BE80F99DDD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5CFA05-75BE-7AF2-C1A3-35C64D0A950E}"/>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762740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8B722E-A4D7-895C-2D2D-C18A3A7E45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200242-B62D-80FC-A9AC-80B9C8710B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C511A1-1215-2F6A-A44D-3BBC6A2A0E92}"/>
              </a:ext>
            </a:extLst>
          </p:cNvPr>
          <p:cNvSpPr>
            <a:spLocks noGrp="1"/>
          </p:cNvSpPr>
          <p:nvPr>
            <p:ph type="dt" sz="half" idx="10"/>
          </p:nvPr>
        </p:nvSpPr>
        <p:spPr/>
        <p:txBody>
          <a:bodyPr/>
          <a:lstStyle/>
          <a:p>
            <a:fld id="{923C63DA-4269-4FA5-87EB-6BBC456391F3}" type="datetimeFigureOut">
              <a:rPr lang="en-IN" smtClean="0"/>
              <a:t>20-08-2026</a:t>
            </a:fld>
            <a:endParaRPr lang="en-IN"/>
          </a:p>
        </p:txBody>
      </p:sp>
      <p:sp>
        <p:nvSpPr>
          <p:cNvPr id="5" name="Footer Placeholder 4">
            <a:extLst>
              <a:ext uri="{FF2B5EF4-FFF2-40B4-BE49-F238E27FC236}">
                <a16:creationId xmlns:a16="http://schemas.microsoft.com/office/drawing/2014/main" id="{DD127B76-8EF5-3970-2AC7-83AF3E1862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0AC10F-D4AE-DA59-8F81-283A18C1BC18}"/>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534327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75AACB-869B-87F5-2C13-9E52823089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ECED56-3A37-5130-72EF-79BCD26CC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FB0635-69FC-3AEF-4854-2FAB67D149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3C63DA-4269-4FA5-87EB-6BBC456391F3}" type="datetimeFigureOut">
              <a:rPr lang="en-IN" smtClean="0"/>
              <a:t>20-08-2026</a:t>
            </a:fld>
            <a:endParaRPr lang="en-IN"/>
          </a:p>
        </p:txBody>
      </p:sp>
      <p:sp>
        <p:nvSpPr>
          <p:cNvPr id="5" name="Footer Placeholder 4">
            <a:extLst>
              <a:ext uri="{FF2B5EF4-FFF2-40B4-BE49-F238E27FC236}">
                <a16:creationId xmlns:a16="http://schemas.microsoft.com/office/drawing/2014/main" id="{70D5EF0F-C4D7-6C63-4555-82ACE3F7E2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711D38C-502B-37B9-1DE1-385E9BB4B9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404252-3D88-4DCD-A1CE-E2034FC642E5}" type="slidenum">
              <a:rPr lang="en-IN" smtClean="0"/>
              <a:t>‹#›</a:t>
            </a:fld>
            <a:endParaRPr lang="en-IN"/>
          </a:p>
        </p:txBody>
      </p:sp>
    </p:spTree>
    <p:extLst>
      <p:ext uri="{BB962C8B-B14F-4D97-AF65-F5344CB8AC3E}">
        <p14:creationId xmlns:p14="http://schemas.microsoft.com/office/powerpoint/2010/main" val="3335804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866F4-1BBD-9102-D3D3-1DC88BCC219B}"/>
              </a:ext>
            </a:extLst>
          </p:cNvPr>
          <p:cNvSpPr>
            <a:spLocks noGrp="1"/>
          </p:cNvSpPr>
          <p:nvPr>
            <p:ph type="ctrTitle"/>
          </p:nvPr>
        </p:nvSpPr>
        <p:spPr>
          <a:xfrm>
            <a:off x="1459992" y="463995"/>
            <a:ext cx="9144000" cy="2387600"/>
          </a:xfrm>
        </p:spPr>
        <p:txBody>
          <a:bodyPr/>
          <a:lstStyle/>
          <a:p>
            <a:r>
              <a:rPr lang="en-IN" dirty="0"/>
              <a:t>Condition of Startups worldwide</a:t>
            </a:r>
          </a:p>
        </p:txBody>
      </p:sp>
      <p:sp>
        <p:nvSpPr>
          <p:cNvPr id="3" name="Subtitle 2">
            <a:extLst>
              <a:ext uri="{FF2B5EF4-FFF2-40B4-BE49-F238E27FC236}">
                <a16:creationId xmlns:a16="http://schemas.microsoft.com/office/drawing/2014/main" id="{6ACA1DAC-16F0-A92F-6D2C-15839B2A37BC}"/>
              </a:ext>
            </a:extLst>
          </p:cNvPr>
          <p:cNvSpPr>
            <a:spLocks noGrp="1"/>
          </p:cNvSpPr>
          <p:nvPr>
            <p:ph type="subTitle" idx="1"/>
          </p:nvPr>
        </p:nvSpPr>
        <p:spPr>
          <a:xfrm>
            <a:off x="731520" y="4197096"/>
            <a:ext cx="3337560" cy="2020824"/>
          </a:xfrm>
        </p:spPr>
        <p:txBody>
          <a:bodyPr/>
          <a:lstStyle/>
          <a:p>
            <a:r>
              <a:rPr lang="en-IN" dirty="0"/>
              <a:t>Startups </a:t>
            </a:r>
          </a:p>
          <a:p>
            <a:r>
              <a:rPr lang="en-IN" dirty="0"/>
              <a:t>August	 2026</a:t>
            </a:r>
          </a:p>
        </p:txBody>
      </p:sp>
    </p:spTree>
    <p:extLst>
      <p:ext uri="{BB962C8B-B14F-4D97-AF65-F5344CB8AC3E}">
        <p14:creationId xmlns:p14="http://schemas.microsoft.com/office/powerpoint/2010/main" val="3847579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DCA1A-A6B0-C163-5FC1-872213837301}"/>
              </a:ext>
            </a:extLst>
          </p:cNvPr>
          <p:cNvSpPr>
            <a:spLocks noGrp="1"/>
          </p:cNvSpPr>
          <p:nvPr>
            <p:ph type="title"/>
          </p:nvPr>
        </p:nvSpPr>
        <p:spPr/>
        <p:txBody>
          <a:bodyPr/>
          <a:lstStyle/>
          <a:p>
            <a:pPr algn="ctr"/>
            <a:r>
              <a:rPr lang="en-IN" b="1" dirty="0"/>
              <a:t>Table of Contents</a:t>
            </a:r>
            <a:endParaRPr lang="en-IN" dirty="0"/>
          </a:p>
        </p:txBody>
      </p:sp>
      <p:sp>
        <p:nvSpPr>
          <p:cNvPr id="3" name="Content Placeholder 2">
            <a:extLst>
              <a:ext uri="{FF2B5EF4-FFF2-40B4-BE49-F238E27FC236}">
                <a16:creationId xmlns:a16="http://schemas.microsoft.com/office/drawing/2014/main" id="{5C9A521E-BC5B-6EA9-E961-D988CDFC4353}"/>
              </a:ext>
            </a:extLst>
          </p:cNvPr>
          <p:cNvSpPr>
            <a:spLocks noGrp="1"/>
          </p:cNvSpPr>
          <p:nvPr>
            <p:ph idx="1"/>
          </p:nvPr>
        </p:nvSpPr>
        <p:spPr/>
        <p:txBody>
          <a:bodyPr/>
          <a:lstStyle/>
          <a:p>
            <a:r>
              <a:rPr lang="en-US" dirty="0"/>
              <a:t>Problem statement</a:t>
            </a:r>
          </a:p>
          <a:p>
            <a:r>
              <a:rPr lang="en-US" dirty="0"/>
              <a:t>KPI</a:t>
            </a:r>
          </a:p>
          <a:p>
            <a:r>
              <a:rPr lang="en-US" dirty="0"/>
              <a:t>Conclusion </a:t>
            </a:r>
          </a:p>
          <a:p>
            <a:r>
              <a:rPr lang="en-US" dirty="0"/>
              <a:t>Summary </a:t>
            </a:r>
          </a:p>
          <a:p>
            <a:r>
              <a:rPr lang="en-US" dirty="0"/>
              <a:t>Recommendation </a:t>
            </a:r>
            <a:endParaRPr lang="en-IN" dirty="0"/>
          </a:p>
          <a:p>
            <a:pPr marL="0" indent="0">
              <a:buNone/>
            </a:pPr>
            <a:endParaRPr lang="en-IN" dirty="0"/>
          </a:p>
        </p:txBody>
      </p:sp>
    </p:spTree>
    <p:extLst>
      <p:ext uri="{BB962C8B-B14F-4D97-AF65-F5344CB8AC3E}">
        <p14:creationId xmlns:p14="http://schemas.microsoft.com/office/powerpoint/2010/main" val="404449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35F25-39F2-8D3D-E5A9-4FD0B574179A}"/>
              </a:ext>
            </a:extLst>
          </p:cNvPr>
          <p:cNvSpPr>
            <a:spLocks noGrp="1"/>
          </p:cNvSpPr>
          <p:nvPr>
            <p:ph type="title"/>
          </p:nvPr>
        </p:nvSpPr>
        <p:spPr/>
        <p:txBody>
          <a:bodyPr/>
          <a:lstStyle/>
          <a:p>
            <a:pPr algn="ctr"/>
            <a:r>
              <a:rPr lang="en-US" b="1" dirty="0"/>
              <a:t>Business Problem </a:t>
            </a:r>
            <a:endParaRPr lang="en-IN" dirty="0"/>
          </a:p>
        </p:txBody>
      </p:sp>
      <p:sp>
        <p:nvSpPr>
          <p:cNvPr id="3" name="Content Placeholder 2">
            <a:extLst>
              <a:ext uri="{FF2B5EF4-FFF2-40B4-BE49-F238E27FC236}">
                <a16:creationId xmlns:a16="http://schemas.microsoft.com/office/drawing/2014/main" id="{FC54074E-1187-34CA-09DD-F230B5DDDB78}"/>
              </a:ext>
            </a:extLst>
          </p:cNvPr>
          <p:cNvSpPr>
            <a:spLocks noGrp="1"/>
          </p:cNvSpPr>
          <p:nvPr>
            <p:ph idx="1"/>
          </p:nvPr>
        </p:nvSpPr>
        <p:spPr/>
        <p:txBody>
          <a:bodyPr/>
          <a:lstStyle/>
          <a:p>
            <a:pPr marL="0" indent="0">
              <a:buNone/>
            </a:pPr>
            <a:endParaRPr lang="en-IN" dirty="0"/>
          </a:p>
          <a:p>
            <a:pPr marL="0" indent="0">
              <a:buNone/>
            </a:pPr>
            <a:r>
              <a:rPr lang="en-IN" dirty="0"/>
              <a:t>Venture capital firms and startup founders need a data-driven evaluation of the global startup ecosystem to identify high-performing geographic markets, thriving industry sectors, and key investment drivers. Without this analysis, stakeholders lack visibility into where capital is most concentrated, which regions offer the highest funding potential, and how sector distribution varies worldwide, leading to misallocated resources and missed expansion opportunities.</a:t>
            </a:r>
          </a:p>
        </p:txBody>
      </p:sp>
    </p:spTree>
    <p:extLst>
      <p:ext uri="{BB962C8B-B14F-4D97-AF65-F5344CB8AC3E}">
        <p14:creationId xmlns:p14="http://schemas.microsoft.com/office/powerpoint/2010/main" val="507877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444FD-0408-2FF8-D38D-0E03FCC2BE8A}"/>
              </a:ext>
            </a:extLst>
          </p:cNvPr>
          <p:cNvSpPr>
            <a:spLocks noGrp="1"/>
          </p:cNvSpPr>
          <p:nvPr>
            <p:ph type="title"/>
          </p:nvPr>
        </p:nvSpPr>
        <p:spPr>
          <a:xfrm>
            <a:off x="838200" y="136525"/>
            <a:ext cx="10515600" cy="915035"/>
          </a:xfrm>
        </p:spPr>
        <p:txBody>
          <a:bodyPr/>
          <a:lstStyle/>
          <a:p>
            <a:pPr algn="ctr"/>
            <a:r>
              <a:rPr lang="en-US" b="1" dirty="0"/>
              <a:t>KPI</a:t>
            </a:r>
            <a:endParaRPr lang="en-IN" dirty="0"/>
          </a:p>
        </p:txBody>
      </p:sp>
      <p:pic>
        <p:nvPicPr>
          <p:cNvPr id="14" name="Content Placeholder 13">
            <a:extLst>
              <a:ext uri="{FF2B5EF4-FFF2-40B4-BE49-F238E27FC236}">
                <a16:creationId xmlns:a16="http://schemas.microsoft.com/office/drawing/2014/main" id="{3B0E7ED9-0939-5BAB-33ED-4ABA19E907EE}"/>
              </a:ext>
            </a:extLst>
          </p:cNvPr>
          <p:cNvPicPr>
            <a:picLocks noGrp="1" noChangeAspect="1"/>
          </p:cNvPicPr>
          <p:nvPr>
            <p:ph idx="1"/>
          </p:nvPr>
        </p:nvPicPr>
        <p:blipFill>
          <a:blip r:embed="rId2"/>
          <a:stretch>
            <a:fillRect/>
          </a:stretch>
        </p:blipFill>
        <p:spPr>
          <a:xfrm>
            <a:off x="0" y="1051560"/>
            <a:ext cx="12192000" cy="5806439"/>
          </a:xfrm>
          <a:prstGeom prst="rect">
            <a:avLst/>
          </a:prstGeom>
        </p:spPr>
      </p:pic>
    </p:spTree>
    <p:extLst>
      <p:ext uri="{BB962C8B-B14F-4D97-AF65-F5344CB8AC3E}">
        <p14:creationId xmlns:p14="http://schemas.microsoft.com/office/powerpoint/2010/main" val="2727931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7DCF3-B5A3-5276-0BF4-62FE3A4F3837}"/>
              </a:ext>
            </a:extLst>
          </p:cNvPr>
          <p:cNvSpPr>
            <a:spLocks noGrp="1"/>
          </p:cNvSpPr>
          <p:nvPr>
            <p:ph type="title"/>
          </p:nvPr>
        </p:nvSpPr>
        <p:spPr>
          <a:xfrm>
            <a:off x="838200" y="192025"/>
            <a:ext cx="10515600" cy="475488"/>
          </a:xfrm>
        </p:spPr>
        <p:txBody>
          <a:bodyPr>
            <a:normAutofit fontScale="90000"/>
          </a:bodyPr>
          <a:lstStyle/>
          <a:p>
            <a:pPr algn="ctr"/>
            <a:r>
              <a:rPr lang="en-US" b="1" dirty="0"/>
              <a:t>KPI</a:t>
            </a:r>
            <a:endParaRPr lang="en-IN" dirty="0"/>
          </a:p>
        </p:txBody>
      </p:sp>
      <p:pic>
        <p:nvPicPr>
          <p:cNvPr id="11" name="Content Placeholder 10">
            <a:extLst>
              <a:ext uri="{FF2B5EF4-FFF2-40B4-BE49-F238E27FC236}">
                <a16:creationId xmlns:a16="http://schemas.microsoft.com/office/drawing/2014/main" id="{3BA3B2CF-3131-5806-33ED-3221D5BBCB06}"/>
              </a:ext>
            </a:extLst>
          </p:cNvPr>
          <p:cNvPicPr>
            <a:picLocks noGrp="1" noChangeAspect="1"/>
          </p:cNvPicPr>
          <p:nvPr>
            <p:ph idx="1"/>
          </p:nvPr>
        </p:nvPicPr>
        <p:blipFill>
          <a:blip r:embed="rId2"/>
          <a:stretch>
            <a:fillRect/>
          </a:stretch>
        </p:blipFill>
        <p:spPr>
          <a:xfrm>
            <a:off x="0" y="877824"/>
            <a:ext cx="11875008" cy="5980175"/>
          </a:xfrm>
          <a:prstGeom prst="rect">
            <a:avLst/>
          </a:prstGeom>
        </p:spPr>
      </p:pic>
    </p:spTree>
    <p:extLst>
      <p:ext uri="{BB962C8B-B14F-4D97-AF65-F5344CB8AC3E}">
        <p14:creationId xmlns:p14="http://schemas.microsoft.com/office/powerpoint/2010/main" val="2675869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6F216-E421-E432-56DC-C19F2BCB4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893A5-6162-6A4E-A124-8BF7D6F1393C}"/>
              </a:ext>
            </a:extLst>
          </p:cNvPr>
          <p:cNvSpPr>
            <a:spLocks noGrp="1"/>
          </p:cNvSpPr>
          <p:nvPr>
            <p:ph type="title"/>
          </p:nvPr>
        </p:nvSpPr>
        <p:spPr>
          <a:xfrm>
            <a:off x="838200" y="192025"/>
            <a:ext cx="10515600" cy="475488"/>
          </a:xfrm>
        </p:spPr>
        <p:txBody>
          <a:bodyPr>
            <a:normAutofit fontScale="90000"/>
          </a:bodyPr>
          <a:lstStyle/>
          <a:p>
            <a:pPr algn="ctr"/>
            <a:r>
              <a:rPr lang="en-US" b="1" dirty="0"/>
              <a:t>KPI</a:t>
            </a:r>
            <a:endParaRPr lang="en-IN" dirty="0"/>
          </a:p>
        </p:txBody>
      </p:sp>
      <p:pic>
        <p:nvPicPr>
          <p:cNvPr id="6" name="Content Placeholder 5">
            <a:extLst>
              <a:ext uri="{FF2B5EF4-FFF2-40B4-BE49-F238E27FC236}">
                <a16:creationId xmlns:a16="http://schemas.microsoft.com/office/drawing/2014/main" id="{7710133B-2A00-A8DD-CF60-AFD05125EA71}"/>
              </a:ext>
            </a:extLst>
          </p:cNvPr>
          <p:cNvPicPr>
            <a:picLocks noGrp="1" noChangeAspect="1"/>
          </p:cNvPicPr>
          <p:nvPr>
            <p:ph idx="1"/>
          </p:nvPr>
        </p:nvPicPr>
        <p:blipFill>
          <a:blip r:embed="rId2"/>
          <a:stretch>
            <a:fillRect/>
          </a:stretch>
        </p:blipFill>
        <p:spPr>
          <a:xfrm>
            <a:off x="91440" y="813816"/>
            <a:ext cx="12024360" cy="5852159"/>
          </a:xfrm>
          <a:prstGeom prst="rect">
            <a:avLst/>
          </a:prstGeom>
        </p:spPr>
      </p:pic>
    </p:spTree>
    <p:extLst>
      <p:ext uri="{BB962C8B-B14F-4D97-AF65-F5344CB8AC3E}">
        <p14:creationId xmlns:p14="http://schemas.microsoft.com/office/powerpoint/2010/main" val="1307904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4505C-1D51-19F8-F4E2-499E10FB432D}"/>
              </a:ext>
            </a:extLst>
          </p:cNvPr>
          <p:cNvSpPr>
            <a:spLocks noGrp="1"/>
          </p:cNvSpPr>
          <p:nvPr>
            <p:ph type="title"/>
          </p:nvPr>
        </p:nvSpPr>
        <p:spPr/>
        <p:txBody>
          <a:bodyPr/>
          <a:lstStyle/>
          <a:p>
            <a:pPr algn="ctr"/>
            <a:r>
              <a:rPr lang="en-US" b="1" dirty="0"/>
              <a:t>CONCLUSION</a:t>
            </a:r>
            <a:endParaRPr lang="en-IN" dirty="0"/>
          </a:p>
        </p:txBody>
      </p:sp>
      <p:sp>
        <p:nvSpPr>
          <p:cNvPr id="3" name="Content Placeholder 2">
            <a:extLst>
              <a:ext uri="{FF2B5EF4-FFF2-40B4-BE49-F238E27FC236}">
                <a16:creationId xmlns:a16="http://schemas.microsoft.com/office/drawing/2014/main" id="{729155F7-9003-F9A7-60BB-FA129B257285}"/>
              </a:ext>
            </a:extLst>
          </p:cNvPr>
          <p:cNvSpPr>
            <a:spLocks noGrp="1"/>
          </p:cNvSpPr>
          <p:nvPr>
            <p:ph idx="1"/>
          </p:nvPr>
        </p:nvSpPr>
        <p:spPr/>
        <p:txBody>
          <a:bodyPr/>
          <a:lstStyle/>
          <a:p>
            <a:pPr marL="0" indent="0">
              <a:buNone/>
            </a:pPr>
            <a:endParaRPr lang="en-IN" dirty="0">
              <a:effectLst/>
            </a:endParaRPr>
          </a:p>
          <a:p>
            <a:pPr marL="0" indent="0">
              <a:buNone/>
            </a:pPr>
            <a:r>
              <a:rPr lang="en-IN" dirty="0">
                <a:effectLst/>
              </a:rPr>
              <a:t>The analysis proves that the United States is the primary global hub for startup activity, dominating total capital investment, investor count, and sector diversification. Conversely, emerging regions like Bangladesh show sparse market participation. Stakeholders can use these insights to target high-value ecosystems while conducting localized qualitative surveys for underrepresented regions.</a:t>
            </a:r>
          </a:p>
          <a:p>
            <a:pPr marL="0" indent="0">
              <a:buNone/>
            </a:pPr>
            <a:endParaRPr lang="en-IN" dirty="0"/>
          </a:p>
        </p:txBody>
      </p:sp>
    </p:spTree>
    <p:extLst>
      <p:ext uri="{BB962C8B-B14F-4D97-AF65-F5344CB8AC3E}">
        <p14:creationId xmlns:p14="http://schemas.microsoft.com/office/powerpoint/2010/main" val="3179566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838D-2F44-F96E-EC5E-54C1AEF652F9}"/>
              </a:ext>
            </a:extLst>
          </p:cNvPr>
          <p:cNvSpPr>
            <a:spLocks noGrp="1"/>
          </p:cNvSpPr>
          <p:nvPr>
            <p:ph type="title"/>
          </p:nvPr>
        </p:nvSpPr>
        <p:spPr>
          <a:xfrm>
            <a:off x="838200" y="201485"/>
            <a:ext cx="10515600" cy="1142683"/>
          </a:xfrm>
        </p:spPr>
        <p:txBody>
          <a:bodyPr/>
          <a:lstStyle/>
          <a:p>
            <a:pPr algn="ctr"/>
            <a:r>
              <a:rPr lang="en-US" b="1" dirty="0"/>
              <a:t>SUMMARY</a:t>
            </a:r>
            <a:endParaRPr lang="en-IN" dirty="0"/>
          </a:p>
        </p:txBody>
      </p:sp>
      <p:sp>
        <p:nvSpPr>
          <p:cNvPr id="3" name="Content Placeholder 2">
            <a:extLst>
              <a:ext uri="{FF2B5EF4-FFF2-40B4-BE49-F238E27FC236}">
                <a16:creationId xmlns:a16="http://schemas.microsoft.com/office/drawing/2014/main" id="{89AE2D22-F1B8-5E01-6A03-F5DC1A894694}"/>
              </a:ext>
            </a:extLst>
          </p:cNvPr>
          <p:cNvSpPr>
            <a:spLocks noGrp="1"/>
          </p:cNvSpPr>
          <p:nvPr>
            <p:ph idx="1"/>
          </p:nvPr>
        </p:nvSpPr>
        <p:spPr>
          <a:xfrm>
            <a:off x="228600" y="1344168"/>
            <a:ext cx="11475720" cy="4832795"/>
          </a:xfrm>
        </p:spPr>
        <p:txBody>
          <a:bodyPr>
            <a:normAutofit/>
          </a:bodyPr>
          <a:lstStyle/>
          <a:p>
            <a:pPr lvl="0"/>
            <a:r>
              <a:rPr lang="en-IN" b="1" dirty="0"/>
              <a:t>Objective:</a:t>
            </a:r>
            <a:r>
              <a:rPr lang="en-IN" dirty="0"/>
              <a:t> Evaluated the global startup ecosystem using multi-source data to identify high-performing geographic hubs, sector distributions, and funding trends.</a:t>
            </a:r>
          </a:p>
          <a:p>
            <a:pPr lvl="0"/>
            <a:r>
              <a:rPr lang="en-IN" b="1" dirty="0"/>
              <a:t>Methodology:</a:t>
            </a:r>
            <a:r>
              <a:rPr lang="en-IN" dirty="0"/>
              <a:t> Cleaned and processed multi-table datasets, executed complex SQL queries (JOIN, GROUP BY, MAX, COUNT), and built interactive Tableau visualizations (</a:t>
            </a:r>
            <a:r>
              <a:rPr lang="en-IN" dirty="0" err="1"/>
              <a:t>treemaps</a:t>
            </a:r>
            <a:r>
              <a:rPr lang="en-IN" dirty="0"/>
              <a:t> and bar charts).</a:t>
            </a:r>
          </a:p>
          <a:p>
            <a:pPr lvl="0"/>
            <a:r>
              <a:rPr lang="en-IN" b="1" dirty="0"/>
              <a:t>Key Findings:</a:t>
            </a:r>
            <a:r>
              <a:rPr lang="en-IN" dirty="0"/>
              <a:t> Revealed that the United States leads globally in capital accumulation, investor engagement, and sector diversity, while regions like Bangladesh require localized market surveys.</a:t>
            </a:r>
          </a:p>
          <a:p>
            <a:pPr lvl="0"/>
            <a:r>
              <a:rPr lang="en-IN" b="1" dirty="0"/>
              <a:t>Outcome:</a:t>
            </a:r>
            <a:r>
              <a:rPr lang="en-IN" dirty="0"/>
              <a:t> Delivered a complete, end-to-end data analytics portfolio case study satisfying all core business requirements.</a:t>
            </a:r>
          </a:p>
          <a:p>
            <a:pPr marL="0" indent="0">
              <a:buNone/>
            </a:pPr>
            <a:endParaRPr lang="en-IN" dirty="0"/>
          </a:p>
        </p:txBody>
      </p:sp>
    </p:spTree>
    <p:extLst>
      <p:ext uri="{BB962C8B-B14F-4D97-AF65-F5344CB8AC3E}">
        <p14:creationId xmlns:p14="http://schemas.microsoft.com/office/powerpoint/2010/main" val="3138505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012D8-5DBB-81A3-9257-3B17D294C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3467C-777B-8E3C-0213-C9962A7E1B1E}"/>
              </a:ext>
            </a:extLst>
          </p:cNvPr>
          <p:cNvSpPr>
            <a:spLocks noGrp="1"/>
          </p:cNvSpPr>
          <p:nvPr>
            <p:ph type="title"/>
          </p:nvPr>
        </p:nvSpPr>
        <p:spPr>
          <a:xfrm>
            <a:off x="838200" y="365125"/>
            <a:ext cx="10515600" cy="1070483"/>
          </a:xfrm>
        </p:spPr>
        <p:txBody>
          <a:bodyPr/>
          <a:lstStyle/>
          <a:p>
            <a:pPr algn="ctr"/>
            <a:r>
              <a:rPr lang="en-US" dirty="0"/>
              <a:t>RECOMMENDATION</a:t>
            </a:r>
            <a:endParaRPr lang="en-IN" dirty="0"/>
          </a:p>
        </p:txBody>
      </p:sp>
      <p:sp>
        <p:nvSpPr>
          <p:cNvPr id="3" name="Content Placeholder 2">
            <a:extLst>
              <a:ext uri="{FF2B5EF4-FFF2-40B4-BE49-F238E27FC236}">
                <a16:creationId xmlns:a16="http://schemas.microsoft.com/office/drawing/2014/main" id="{9C8ABD41-6AFB-01D6-5ED7-23827572CF3D}"/>
              </a:ext>
            </a:extLst>
          </p:cNvPr>
          <p:cNvSpPr>
            <a:spLocks noGrp="1"/>
          </p:cNvSpPr>
          <p:nvPr>
            <p:ph idx="1"/>
          </p:nvPr>
        </p:nvSpPr>
        <p:spPr>
          <a:xfrm>
            <a:off x="356616" y="1825624"/>
            <a:ext cx="11612880" cy="4602607"/>
          </a:xfrm>
        </p:spPr>
        <p:txBody>
          <a:bodyPr>
            <a:normAutofit/>
          </a:bodyPr>
          <a:lstStyle/>
          <a:p>
            <a:pPr lvl="0"/>
            <a:r>
              <a:rPr lang="en-IN" b="1" dirty="0"/>
              <a:t>Prioritize High-Value Markets:</a:t>
            </a:r>
            <a:r>
              <a:rPr lang="en-IN" dirty="0"/>
              <a:t> Allocate core venture capital and major expansion resources toward established, high-performing hubs like the United States, where investor engagement and funding volumes are maximized.</a:t>
            </a:r>
          </a:p>
          <a:p>
            <a:pPr lvl="0"/>
            <a:r>
              <a:rPr lang="en-IN" b="1" dirty="0"/>
              <a:t>Conduct Localized Market Research:</a:t>
            </a:r>
            <a:r>
              <a:rPr lang="en-IN" dirty="0"/>
              <a:t> Implement qualitative local surveys and ground-level discovery initiatives in underrepresented regions (such as Bangladesh) to uncover niche sectors and overcome data gaps before committing capital.</a:t>
            </a:r>
          </a:p>
          <a:p>
            <a:pPr lvl="0"/>
            <a:r>
              <a:rPr lang="en-IN" b="1" dirty="0"/>
              <a:t>Diversify Portfolio Sectors:</a:t>
            </a:r>
            <a:r>
              <a:rPr lang="en-IN" dirty="0"/>
              <a:t> Balance investments across high-growth, high-concentration categories (like Artificial Intelligence and Fintech) while exploring emerging opportunities in specialized regional domains.</a:t>
            </a:r>
          </a:p>
          <a:p>
            <a:pPr marL="0" indent="0">
              <a:buNone/>
            </a:pPr>
            <a:endParaRPr lang="en-IN" dirty="0"/>
          </a:p>
        </p:txBody>
      </p:sp>
    </p:spTree>
    <p:extLst>
      <p:ext uri="{BB962C8B-B14F-4D97-AF65-F5344CB8AC3E}">
        <p14:creationId xmlns:p14="http://schemas.microsoft.com/office/powerpoint/2010/main" val="2030525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BEFBFB-9786-7FD6-9AB0-61010166D209}"/>
              </a:ext>
            </a:extLst>
          </p:cNvPr>
          <p:cNvSpPr>
            <a:spLocks noGrp="1"/>
          </p:cNvSpPr>
          <p:nvPr>
            <p:ph type="title"/>
          </p:nvPr>
        </p:nvSpPr>
        <p:spPr>
          <a:xfrm>
            <a:off x="838200" y="365125"/>
            <a:ext cx="10515600" cy="5615051"/>
          </a:xfrm>
        </p:spPr>
        <p:txBody>
          <a:bodyPr>
            <a:normAutofit/>
          </a:bodyPr>
          <a:lstStyle/>
          <a:p>
            <a:pPr algn="ctr"/>
            <a:r>
              <a:rPr lang="en-US" sz="6600" dirty="0"/>
              <a:t>Thank you</a:t>
            </a:r>
            <a:endParaRPr lang="en-IN" sz="6600" dirty="0"/>
          </a:p>
        </p:txBody>
      </p:sp>
      <p:pic>
        <p:nvPicPr>
          <p:cNvPr id="3" name="Picture 2">
            <a:extLst>
              <a:ext uri="{FF2B5EF4-FFF2-40B4-BE49-F238E27FC236}">
                <a16:creationId xmlns:a16="http://schemas.microsoft.com/office/drawing/2014/main" id="{9F29377C-0203-AB8A-716F-E66201B85BE0}"/>
              </a:ext>
            </a:extLst>
          </p:cNvPr>
          <p:cNvPicPr>
            <a:picLocks noChangeAspect="1"/>
          </p:cNvPicPr>
          <p:nvPr/>
        </p:nvPicPr>
        <p:blipFill>
          <a:blip r:embed="rId2">
            <a:extLst>
              <a:ext uri="{28A0092B-C50C-407E-A947-70E740481C1C}">
                <a14:useLocalDpi xmlns:a14="http://schemas.microsoft.com/office/drawing/2010/main" val="0"/>
              </a:ext>
            </a:extLst>
          </a:blip>
          <a:srcRect l="11296" t="18254" r="12141" b="18254"/>
          <a:stretch>
            <a:fillRect/>
          </a:stretch>
        </p:blipFill>
        <p:spPr>
          <a:xfrm>
            <a:off x="10428000" y="0"/>
            <a:ext cx="1764000" cy="1440000"/>
          </a:xfrm>
          <a:prstGeom prst="rect">
            <a:avLst/>
          </a:prstGeom>
        </p:spPr>
      </p:pic>
    </p:spTree>
    <p:extLst>
      <p:ext uri="{BB962C8B-B14F-4D97-AF65-F5344CB8AC3E}">
        <p14:creationId xmlns:p14="http://schemas.microsoft.com/office/powerpoint/2010/main" val="1542226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348</Words>
  <Application>Microsoft Office PowerPoint</Application>
  <PresentationFormat>Widescreen</PresentationFormat>
  <Paragraphs>28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Condition of Startups worldwide</vt:lpstr>
      <vt:lpstr>Table of Contents</vt:lpstr>
      <vt:lpstr>Business Problem </vt:lpstr>
      <vt:lpstr>KPI</vt:lpstr>
      <vt:lpstr>KPI</vt:lpstr>
      <vt:lpstr>KPI</vt:lpstr>
      <vt:lpstr>CONCLUSION</vt:lpstr>
      <vt:lpstr>SUMMARY</vt:lpstr>
      <vt:lpstr>RECOMMENDATION</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SIDHANT NEGI</dc:creator>
  <cp:lastModifiedBy>SIDHANT NEGI</cp:lastModifiedBy>
  <cp:revision>2</cp:revision>
  <dcterms:created xsi:type="dcterms:W3CDTF">2026-08-20T14:36:58Z</dcterms:created>
  <dcterms:modified xsi:type="dcterms:W3CDTF">2026-08-20T14:43:15Z</dcterms:modified>
</cp:coreProperties>
</file>